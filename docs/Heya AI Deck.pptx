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589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9B8FF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47750" y="1004887"/>
            <a:ext cx="133350" cy="133350"/>
          </a:xfrm>
          <a:prstGeom prst="ellipse">
            <a:avLst/>
          </a:prstGeom>
          <a:solidFill>
            <a:srgbClr val="C9B8FF"/>
          </a:solidFill>
          <a:ln/>
          <a:effectLst>
            <a:outerShdw blurRad="101600" dist="50800" dir="16200000" algn="bl" rotWithShape="0">
              <a:srgbClr val="C9B8FF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3500" y="914400"/>
            <a:ext cx="34452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432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 · DEMO DECK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4054673"/>
            <a:ext cx="16678275" cy="2419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0" b="1" kern="0" spc="-990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</a:t>
            </a:r>
            <a:r>
              <a:rPr lang="en-US" sz="18000" i="1" kern="0" spc="-990" dirty="0">
                <a:solidFill>
                  <a:srgbClr val="C9B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AI.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1047750" y="7007423"/>
            <a:ext cx="8829675" cy="993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850" dirty="0">
                <a:solidFill>
                  <a:srgbClr val="E8E0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Voice Analytics Platform — turning AI voice agent call recordings into actionable intelligence.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047750" y="9127331"/>
            <a:ext cx="95250" cy="245269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200150" y="8811816"/>
            <a:ext cx="95250" cy="560784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352550" y="9004697"/>
            <a:ext cx="95250" cy="367903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504950" y="8601521"/>
            <a:ext cx="95250" cy="771079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657350" y="9057233"/>
            <a:ext cx="95250" cy="315367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809750" y="8741718"/>
            <a:ext cx="95250" cy="630882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962150" y="8917037"/>
            <a:ext cx="95250" cy="455563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114550" y="8566547"/>
            <a:ext cx="95250" cy="806053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66950" y="9109770"/>
            <a:ext cx="95250" cy="262830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419350" y="8864352"/>
            <a:ext cx="95250" cy="508248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571750" y="8689181"/>
            <a:ext cx="95250" cy="683419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24150" y="8987135"/>
            <a:ext cx="95250" cy="385465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876550" y="8794254"/>
            <a:ext cx="95250" cy="578346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028950" y="8531423"/>
            <a:ext cx="95250" cy="841177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181350" y="9039671"/>
            <a:ext cx="95250" cy="332929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333750" y="8759279"/>
            <a:ext cx="95250" cy="613321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486150" y="8934450"/>
            <a:ext cx="95250" cy="438150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638550" y="8654058"/>
            <a:ext cx="95250" cy="718542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790950" y="9092208"/>
            <a:ext cx="95250" cy="280392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943350" y="8846939"/>
            <a:ext cx="95250" cy="525661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095750" y="8706743"/>
            <a:ext cx="95250" cy="665857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248150" y="9022110"/>
            <a:ext cx="95250" cy="350490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400550" y="8619083"/>
            <a:ext cx="95250" cy="753517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552950" y="8899475"/>
            <a:ext cx="95250" cy="473125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05350" y="9162306"/>
            <a:ext cx="95250" cy="210294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857750" y="8776841"/>
            <a:ext cx="95250" cy="595759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010150" y="8969573"/>
            <a:ext cx="95250" cy="403027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162550" y="8583960"/>
            <a:ext cx="95250" cy="788640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314950" y="9074795"/>
            <a:ext cx="95250" cy="297805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467350" y="8829377"/>
            <a:ext cx="95250" cy="543223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5619750" y="8671620"/>
            <a:ext cx="95250" cy="700980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772150" y="8952012"/>
            <a:ext cx="95250" cy="420588"/>
          </a:xfrm>
          <a:prstGeom prst="roundRect">
            <a:avLst>
              <a:gd name="adj" fmla="val 40000"/>
            </a:avLst>
          </a:prstGeom>
          <a:solidFill>
            <a:srgbClr val="C9B8FF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047750" y="9363075"/>
            <a:ext cx="410227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RMIT COSC2667 / COSC2777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4444493" y="8946059"/>
            <a:ext cx="2795757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60000"/>
              </a:lnSpc>
              <a:buNone/>
            </a:pPr>
            <a:r>
              <a:rPr lang="en-US" sz="1800" b="1" kern="0" spc="288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SEMESTER 4 · 2026 DEMO BUILD V2.0.0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609600"/>
            <a:ext cx="133350" cy="133350"/>
          </a:xfrm>
          <a:prstGeom prst="ellipse">
            <a:avLst/>
          </a:prstGeom>
          <a:solidFill>
            <a:srgbClr val="7C5CFF"/>
          </a:solidFill>
          <a:ln/>
          <a:effectLst>
            <a:outerShdw blurRad="101600" dist="50800" dir="16200000" algn="bl" rotWithShape="0">
              <a:srgbClr val="7C5CFF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14450" y="519113"/>
            <a:ext cx="11538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739342" y="457200"/>
            <a:ext cx="257710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kern="0" spc="288" dirty="0">
                <a:solidFill>
                  <a:srgbClr val="14102B">
                    <a:alpha val="62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I. </a:t>
            </a: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THE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914400"/>
            <a:ext cx="166782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7C5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533525"/>
            <a:ext cx="14716125" cy="81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42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voice agents are </a:t>
            </a:r>
            <a:r>
              <a:rPr lang="en-US" sz="5700" i="1" kern="0" spc="-142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flying blind.</a:t>
            </a:r>
            <a:endParaRPr lang="en-US" sz="5700" dirty="0"/>
          </a:p>
        </p:txBody>
      </p:sp>
      <p:sp>
        <p:nvSpPr>
          <p:cNvPr id="7" name="Shape 5"/>
          <p:cNvSpPr/>
          <p:nvPr/>
        </p:nvSpPr>
        <p:spPr>
          <a:xfrm>
            <a:off x="1047750" y="3000673"/>
            <a:ext cx="5194250" cy="3442246"/>
          </a:xfrm>
          <a:prstGeom prst="roundRect">
            <a:avLst>
              <a:gd name="adj" fmla="val 6088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438275" y="3429298"/>
            <a:ext cx="454559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438275" y="4267498"/>
            <a:ext cx="454559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Visibility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38275" y="5019973"/>
            <a:ext cx="4545596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Businesses deploy AI voice agents and get call logs but no analytics on what actually happened.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46800" y="3000673"/>
            <a:ext cx="5194250" cy="3442246"/>
          </a:xfrm>
          <a:prstGeom prst="roundRect">
            <a:avLst>
              <a:gd name="adj" fmla="val 6088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937325" y="3429298"/>
            <a:ext cx="454559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937325" y="4267498"/>
            <a:ext cx="454559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Insight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937325" y="5019973"/>
            <a:ext cx="45455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Standard platforms report whether a call "succeeded" — they don't tell you </a:t>
            </a:r>
            <a:r>
              <a:rPr lang="en-US" sz="1800" i="1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</a:t>
            </a: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045851" y="3000673"/>
            <a:ext cx="5194250" cy="3442246"/>
          </a:xfrm>
          <a:prstGeom prst="roundRect">
            <a:avLst>
              <a:gd name="adj" fmla="val 6088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2436376" y="3429298"/>
            <a:ext cx="4545596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2436376" y="4267498"/>
            <a:ext cx="4545596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kern="0" spc="-45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Action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2436376" y="5019973"/>
            <a:ext cx="45455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Without data, managers can't coach agents, identify patterns, or prove ROI.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47601" y="7029588"/>
            <a:ext cx="16192500" cy="1371600"/>
          </a:xfrm>
          <a:prstGeom prst="roundRect">
            <a:avLst>
              <a:gd name="adj" fmla="val 12500"/>
            </a:avLst>
          </a:prstGeom>
          <a:solidFill>
            <a:srgbClr val="1410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438275" y="7432864"/>
            <a:ext cx="7651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000" i="1" dirty="0">
                <a:solidFill>
                  <a:srgbClr val="C9B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 x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2460575" y="7462392"/>
            <a:ext cx="11628651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Voice AI deployments grew 3× in 2025 — but </a:t>
            </a:r>
            <a:r>
              <a:rPr lang="en-US" sz="1950" b="1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80% of operators </a:t>
            </a:r>
            <a:r>
              <a:rPr lang="en-US" sz="1950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have no call quality analytics in place.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47750" y="9553575"/>
            <a:ext cx="25730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— THE PROBLEM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356235" y="9553575"/>
            <a:ext cx="19602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 · 2026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609600"/>
            <a:ext cx="133350" cy="133350"/>
          </a:xfrm>
          <a:prstGeom prst="ellipse">
            <a:avLst/>
          </a:prstGeom>
          <a:solidFill>
            <a:srgbClr val="7C5CFF"/>
          </a:solidFill>
          <a:ln/>
          <a:effectLst>
            <a:outerShdw blurRad="101600" dist="50800" dir="16200000" algn="bl" rotWithShape="0">
              <a:srgbClr val="7C5CFF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14450" y="519113"/>
            <a:ext cx="11538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542889" y="457200"/>
            <a:ext cx="277828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50" i="1" kern="0" spc="288" dirty="0">
                <a:solidFill>
                  <a:srgbClr val="14102B">
                    <a:alpha val="62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II. </a:t>
            </a: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THE SOLUTION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914400"/>
            <a:ext cx="166782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7C5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533525"/>
            <a:ext cx="14716125" cy="81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42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 call intelligence — </a:t>
            </a:r>
            <a:r>
              <a:rPr lang="en-US" sz="5700" i="1" kern="0" spc="-142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out of the box.</a:t>
            </a:r>
            <a:endParaRPr lang="en-US" sz="5700" dirty="0"/>
          </a:p>
        </p:txBody>
      </p:sp>
      <p:sp>
        <p:nvSpPr>
          <p:cNvPr id="7" name="Shape 5"/>
          <p:cNvSpPr/>
          <p:nvPr/>
        </p:nvSpPr>
        <p:spPr>
          <a:xfrm>
            <a:off x="1047750" y="2924473"/>
            <a:ext cx="779145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47750" y="3276898"/>
            <a:ext cx="80251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7C5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WE DO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5274" y="3784401"/>
            <a:ext cx="8027670" cy="2279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2A235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Process every call recording through an acoustic AI pipeline</a:t>
            </a:r>
            <a:endParaRPr lang="en-US" sz="1800" dirty="0"/>
          </a:p>
          <a:p>
            <a:pPr marL="0" indent="0" algn="just">
              <a:lnSpc>
                <a:spcPct val="142000"/>
              </a:lnSpc>
              <a:buNone/>
            </a:pPr>
            <a:r>
              <a:rPr lang="en-US" sz="1800" dirty="0">
                <a:solidFill>
                  <a:srgbClr val="2A235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Surface 7 deep analytics metrics — emotion, engagement, sentiment, silence, interruptions, speaking rate, stress</a:t>
            </a:r>
            <a:endParaRPr lang="en-US" sz="18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2A235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Let clients ask their data in plain English via verified RAG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448800" y="2924473"/>
            <a:ext cx="779145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448800" y="3276898"/>
            <a:ext cx="80251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7C5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WHOM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446324" y="3819823"/>
            <a:ext cx="8027670" cy="19548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dirty="0">
                <a:solidFill>
                  <a:srgbClr val="2A2351"/>
                </a:solidFill>
                <a:latin typeface="Manrope" pitchFamily="34" charset="0"/>
                <a:ea typeface="Manrope" pitchFamily="34" charset="-122"/>
              </a:rPr>
              <a:t>HEYA VOICE AI</a:t>
            </a:r>
            <a:endParaRPr lang="en-US" sz="18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2A235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Multi-agent deployments — inbound and outbound flows</a:t>
            </a:r>
            <a:endParaRPr lang="en-US" sz="1800" dirty="0"/>
          </a:p>
          <a:p>
            <a:pPr marL="0" indent="0" algn="l">
              <a:lnSpc>
                <a:spcPct val="142000"/>
              </a:lnSpc>
              <a:buNone/>
            </a:pPr>
            <a:r>
              <a:rPr lang="en-US" sz="1800" dirty="0">
                <a:solidFill>
                  <a:srgbClr val="2A235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Any industry — property, legal, medical, hospitality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6670774"/>
            <a:ext cx="137350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000" i="1" dirty="0">
                <a:solidFill>
                  <a:srgbClr val="14102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From raw </a:t>
            </a:r>
            <a:r>
              <a:rPr lang="en-US" sz="30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.wav </a:t>
            </a:r>
            <a:r>
              <a:rPr lang="en-US" sz="3000" i="1" dirty="0">
                <a:solidFill>
                  <a:srgbClr val="14102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file to full call intelligence dashboard — </a:t>
            </a:r>
            <a:r>
              <a:rPr lang="en-US" sz="30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automated, multi-tenant, real-time.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47750" y="9553575"/>
            <a:ext cx="267128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— THE SOLUTION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356235" y="9553575"/>
            <a:ext cx="19602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 · 2026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609600"/>
            <a:ext cx="133350" cy="133350"/>
          </a:xfrm>
          <a:prstGeom prst="ellipse">
            <a:avLst/>
          </a:prstGeom>
          <a:solidFill>
            <a:srgbClr val="C9B8FF"/>
          </a:solidFill>
          <a:ln/>
          <a:effectLst>
            <a:outerShdw blurRad="101600" dist="50800" dir="16200000" algn="bl" rotWithShape="0">
              <a:srgbClr val="C9B8FF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14450" y="519113"/>
            <a:ext cx="11538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369355" y="457200"/>
            <a:ext cx="29570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kern="0" spc="288" dirty="0">
                <a:solidFill>
                  <a:srgbClr val="E8E0FF">
                    <a:alpha val="72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III. </a:t>
            </a:r>
            <a:r>
              <a:rPr lang="en-US" sz="1800" b="1" kern="0" spc="288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914400"/>
            <a:ext cx="166782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533525"/>
            <a:ext cx="14716125" cy="81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42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layers. </a:t>
            </a:r>
            <a:r>
              <a:rPr lang="en-US" sz="5700" i="1" kern="0" spc="-142" dirty="0">
                <a:solidFill>
                  <a:srgbClr val="C9B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One platform.</a:t>
            </a:r>
            <a:endParaRPr lang="en-US" sz="5700" dirty="0"/>
          </a:p>
        </p:txBody>
      </p:sp>
      <p:sp>
        <p:nvSpPr>
          <p:cNvPr id="7" name="Shape 5"/>
          <p:cNvSpPr/>
          <p:nvPr/>
        </p:nvSpPr>
        <p:spPr>
          <a:xfrm>
            <a:off x="1047750" y="2810173"/>
            <a:ext cx="3919537" cy="2152650"/>
          </a:xfrm>
          <a:prstGeom prst="roundRect">
            <a:avLst>
              <a:gd name="adj" fmla="val 7965"/>
            </a:avLst>
          </a:prstGeom>
          <a:solidFill>
            <a:srgbClr val="C9B8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1285875" y="3086398"/>
            <a:ext cx="35465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C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5875" y="3495973"/>
            <a:ext cx="354658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 Recording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85875" y="4000798"/>
            <a:ext cx="354658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8E0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.wav file with a transcript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38738" y="2810173"/>
            <a:ext cx="3919537" cy="2152650"/>
          </a:xfrm>
          <a:prstGeom prst="roundRect">
            <a:avLst>
              <a:gd name="adj" fmla="val 7965"/>
            </a:avLst>
          </a:prstGeom>
          <a:solidFill>
            <a:srgbClr val="C9B8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76863" y="3086398"/>
            <a:ext cx="35465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C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76863" y="3495973"/>
            <a:ext cx="354658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Audio Pipeline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376863" y="4000798"/>
            <a:ext cx="354658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8E0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pyannote · librosa · emotion2vec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29725" y="2810173"/>
            <a:ext cx="3919537" cy="2152650"/>
          </a:xfrm>
          <a:prstGeom prst="roundRect">
            <a:avLst>
              <a:gd name="adj" fmla="val 7965"/>
            </a:avLst>
          </a:prstGeom>
          <a:solidFill>
            <a:srgbClr val="C9B8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467850" y="3086398"/>
            <a:ext cx="35465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C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467850" y="3495973"/>
            <a:ext cx="354658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Analytics DB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467850" y="4000798"/>
            <a:ext cx="354658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8E0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PostgreSQL 14 pgvector 768d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320713" y="2810173"/>
            <a:ext cx="3919537" cy="2152650"/>
          </a:xfrm>
          <a:prstGeom prst="roundRect">
            <a:avLst>
              <a:gd name="adj" fmla="val 7965"/>
            </a:avLst>
          </a:prstGeom>
          <a:solidFill>
            <a:srgbClr val="C9B8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3558838" y="3086398"/>
            <a:ext cx="35465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C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SURFACE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558838" y="3495973"/>
            <a:ext cx="354658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Dashboard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558838" y="4000798"/>
            <a:ext cx="354658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8E0FF">
                    <a:alpha val="7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 19 recharts · framer-motion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47750" y="5496223"/>
            <a:ext cx="5245001" cy="3362325"/>
          </a:xfrm>
          <a:prstGeom prst="roundRect">
            <a:avLst>
              <a:gd name="adj" fmla="val 5099"/>
            </a:avLst>
          </a:prstGeom>
          <a:solidFill>
            <a:srgbClr val="7C5CFF">
              <a:alpha val="10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22"/>
          <p:cNvSpPr/>
          <p:nvPr/>
        </p:nvSpPr>
        <p:spPr>
          <a:xfrm>
            <a:off x="1323975" y="5810548"/>
            <a:ext cx="483332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· AUDIO INTELLIGENCE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3975" y="6258223"/>
            <a:ext cx="4833327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Diarisation + acoustic features + emotion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285875" y="6782098"/>
            <a:ext cx="483332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pyannote separates speakers, librosa extracts pitch and energy, emotion2vec classifies vocal emotion per utterance. Runs on GPU in a dedicated </a:t>
            </a:r>
            <a:r>
              <a:rPr lang="en-US" sz="1800" dirty="0" err="1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conda</a:t>
            </a:r>
            <a:r>
              <a:rPr lang="en-US" sz="1800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environment.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521351" y="5496223"/>
            <a:ext cx="5245150" cy="3362325"/>
          </a:xfrm>
          <a:prstGeom prst="roundRect">
            <a:avLst>
              <a:gd name="adj" fmla="val 5099"/>
            </a:avLst>
          </a:prstGeom>
          <a:solidFill>
            <a:srgbClr val="7C5CFF">
              <a:alpha val="10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797576" y="5810548"/>
            <a:ext cx="48334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 · RAG INTERFACE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797576" y="6258223"/>
            <a:ext cx="4833481" cy="819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Plain-English queries over call data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6812984" y="6782098"/>
            <a:ext cx="483348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Verified SQL stats and pgvector semantic search power answers from Cerebras Qwen3 235B — a 235-billion parameter MoE model running at 60k tokens / minute.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995100" y="5496223"/>
            <a:ext cx="5245150" cy="3362325"/>
          </a:xfrm>
          <a:prstGeom prst="roundRect">
            <a:avLst>
              <a:gd name="adj" fmla="val 5099"/>
            </a:avLst>
          </a:prstGeom>
          <a:solidFill>
            <a:srgbClr val="7C5CFF">
              <a:alpha val="10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2271325" y="5810548"/>
            <a:ext cx="48334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 · MULTI-TENANT SAAS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271325" y="6258223"/>
            <a:ext cx="483348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-22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isolation layers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2271325" y="6782098"/>
            <a:ext cx="4833481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client sees only their own data. JWT claims, application-level checks, and PostgreSQL Row Level Security stack on top of each other for defence in depth.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47750" y="9553575"/>
            <a:ext cx="27735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— ARCHITECTURE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5356235" y="9553575"/>
            <a:ext cx="19602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 · 2026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609600"/>
            <a:ext cx="133350" cy="133350"/>
          </a:xfrm>
          <a:prstGeom prst="ellipse">
            <a:avLst/>
          </a:prstGeom>
          <a:solidFill>
            <a:srgbClr val="7C5CFF"/>
          </a:solidFill>
          <a:ln/>
          <a:effectLst>
            <a:outerShdw blurRad="101600" dist="50800" dir="16200000" algn="bl" rotWithShape="0">
              <a:srgbClr val="7C5CFF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14450" y="519113"/>
            <a:ext cx="11538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669566" y="457200"/>
            <a:ext cx="36778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50" i="1" kern="0" spc="288" dirty="0">
                <a:solidFill>
                  <a:srgbClr val="14102B">
                    <a:alpha val="62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IV. </a:t>
            </a: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ANALYTICS METRICS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914400"/>
            <a:ext cx="166782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7C5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ACOUSTIC PIPELINE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533525"/>
            <a:ext cx="14716125" cy="81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42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Seven metrics, </a:t>
            </a:r>
            <a:r>
              <a:rPr lang="en-US" sz="5700" i="1" kern="0" spc="-142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every call.</a:t>
            </a:r>
            <a:endParaRPr lang="en-US" sz="5700" dirty="0"/>
          </a:p>
        </p:txBody>
      </p:sp>
      <p:sp>
        <p:nvSpPr>
          <p:cNvPr id="7" name="Shape 5"/>
          <p:cNvSpPr/>
          <p:nvPr/>
        </p:nvSpPr>
        <p:spPr>
          <a:xfrm>
            <a:off x="1047750" y="2733973"/>
            <a:ext cx="3933825" cy="2710458"/>
          </a:xfrm>
          <a:prstGeom prst="roundRect">
            <a:avLst>
              <a:gd name="adj" fmla="val 6325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66825" y="2972098"/>
            <a:ext cx="360054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266825" y="3543598"/>
            <a:ext cx="36005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Emotion Detection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6825" y="3972223"/>
            <a:ext cx="3600545" cy="1272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vocal emotion — happy, angry, sad, fearful, neutral — inferred from pitch &amp; energy, not text.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33975" y="2733973"/>
            <a:ext cx="3933825" cy="2710458"/>
          </a:xfrm>
          <a:prstGeom prst="roundRect">
            <a:avLst>
              <a:gd name="adj" fmla="val 6325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53050" y="2972098"/>
            <a:ext cx="360054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353050" y="3543598"/>
            <a:ext cx="36005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Engagement Score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53050" y="3972223"/>
            <a:ext cx="3600545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0–100 composite of pitch variation, energy, speech rate, and pause frequency.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20200" y="2733973"/>
            <a:ext cx="3933825" cy="2710458"/>
          </a:xfrm>
          <a:prstGeom prst="roundRect">
            <a:avLst>
              <a:gd name="adj" fmla="val 6325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439275" y="2972098"/>
            <a:ext cx="360054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439275" y="3543598"/>
            <a:ext cx="36005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Sentiment Trajectory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39275" y="3972223"/>
            <a:ext cx="3600545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 the call getting better or worse? Improving · stable · deteriorating across call thirds.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306425" y="2733973"/>
            <a:ext cx="3933825" cy="2710458"/>
          </a:xfrm>
          <a:prstGeom prst="roundRect">
            <a:avLst>
              <a:gd name="adj" fmla="val 6325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3525500" y="2972098"/>
            <a:ext cx="360054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3525500" y="3543598"/>
            <a:ext cx="36005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Silence &amp; Interruption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525500" y="3972223"/>
            <a:ext cx="3600545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Silence ratio, interruption count, and correlation with call success rate.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47750" y="5596830"/>
            <a:ext cx="3933825" cy="2476500"/>
          </a:xfrm>
          <a:prstGeom prst="roundRect">
            <a:avLst>
              <a:gd name="adj" fmla="val 6923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266825" y="5834955"/>
            <a:ext cx="360054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05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266825" y="6406455"/>
            <a:ext cx="36005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Speaking Rate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66825" y="6835080"/>
            <a:ext cx="3600545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Words per minute and hesitation pauses — early signs of customer confusion.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133975" y="5596830"/>
            <a:ext cx="3933825" cy="2476500"/>
          </a:xfrm>
          <a:prstGeom prst="roundRect">
            <a:avLst>
              <a:gd name="adj" fmla="val 6923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53050" y="5834955"/>
            <a:ext cx="360054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06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5353050" y="6406455"/>
            <a:ext cx="36005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Acoustic Stress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53050" y="6835080"/>
            <a:ext cx="3600545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pitch elevation above baseline — an early warning signal for escalation risk.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220200" y="5596830"/>
            <a:ext cx="3933825" cy="2476500"/>
          </a:xfrm>
          <a:prstGeom prst="roundRect">
            <a:avLst>
              <a:gd name="adj" fmla="val 6923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439275" y="5834955"/>
            <a:ext cx="360054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07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9439275" y="6406455"/>
            <a:ext cx="360054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Agent Consistency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439275" y="6835080"/>
            <a:ext cx="3600545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Pitch standard deviation per agent — how consistent is the AI voice's vocal pattern over time?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3306425" y="5596830"/>
            <a:ext cx="3933825" cy="2476500"/>
          </a:xfrm>
          <a:prstGeom prst="roundRect">
            <a:avLst>
              <a:gd name="adj" fmla="val 6923"/>
            </a:avLst>
          </a:prstGeom>
          <a:solidFill>
            <a:srgbClr val="1410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3515975" y="5825430"/>
            <a:ext cx="362016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i="1" dirty="0">
                <a:solidFill>
                  <a:srgbClr val="C9B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+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13515975" y="6396930"/>
            <a:ext cx="36201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Quality Score &amp; Grade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515975" y="6825555"/>
            <a:ext cx="3620167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A–F composite combining engagement, flow, outcome and emotion — one letter per call.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47750" y="8416230"/>
            <a:ext cx="28575" cy="400050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343025" y="8416230"/>
            <a:ext cx="1472498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2A235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Emotion is detected from voice acoustics — not words. A calm script can mask genuine frustration.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1047750" y="9553575"/>
            <a:ext cx="34757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— ANALYTICS METRICS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5356235" y="9553575"/>
            <a:ext cx="19602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 · 2026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609600"/>
            <a:ext cx="133350" cy="133350"/>
          </a:xfrm>
          <a:prstGeom prst="ellipse">
            <a:avLst/>
          </a:prstGeom>
          <a:solidFill>
            <a:srgbClr val="7C5CFF"/>
          </a:solidFill>
          <a:ln/>
          <a:effectLst>
            <a:outerShdw blurRad="101600" dist="50800" dir="16200000" algn="bl" rotWithShape="0">
              <a:srgbClr val="7C5CFF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14450" y="519113"/>
            <a:ext cx="11538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859173" y="457200"/>
            <a:ext cx="34825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50" i="1" kern="0" spc="288" dirty="0">
                <a:solidFill>
                  <a:srgbClr val="14102B">
                    <a:alpha val="62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V. </a:t>
            </a: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CLIENT DASHBOARD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914400"/>
            <a:ext cx="1098804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7C5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 DASHBOARD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533525"/>
            <a:ext cx="10988040" cy="1572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42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Everything a client needs, </a:t>
            </a:r>
            <a:r>
              <a:rPr lang="en-US" sz="5700" i="1" kern="0" spc="-142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 one view.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1942445" y="1997125"/>
            <a:ext cx="5297805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KPI cards · 5 embedded charts · filterable call table · transcript search · RAG chat · alert inbox — all multi-tenant, all real-time.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38225" y="3105744"/>
            <a:ext cx="16192500" cy="6533289"/>
          </a:xfrm>
          <a:prstGeom prst="roundRect">
            <a:avLst>
              <a:gd name="adj" fmla="val 2593"/>
            </a:avLst>
          </a:prstGeom>
          <a:solidFill>
            <a:srgbClr val="14102B"/>
          </a:solidFill>
          <a:ln/>
          <a:effectLst>
            <a:outerShdw blurRad="762000" dist="285750" dir="5400000" algn="bl" rotWithShape="0">
              <a:srgbClr val="14102B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7577" y="3029546"/>
            <a:ext cx="5464076" cy="334877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57275" y="9354145"/>
            <a:ext cx="5264051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228725" y="8906470"/>
            <a:ext cx="61733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915346" y="8925520"/>
            <a:ext cx="13107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371 calls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32420" y="6204800"/>
            <a:ext cx="5892211" cy="334877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511826" y="9354145"/>
            <a:ext cx="526420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683276" y="8906470"/>
            <a:ext cx="163428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Audio Insights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10232975" y="8925520"/>
            <a:ext cx="14478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 sections</a:t>
            </a:r>
            <a:endParaRPr lang="en-US" sz="18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71534" y="2906315"/>
            <a:ext cx="5806143" cy="3348775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1966525" y="9354145"/>
            <a:ext cx="526420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12137975" y="8906470"/>
            <a:ext cx="8434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Search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15824746" y="8925520"/>
            <a:ext cx="13107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full-text</a:t>
            </a:r>
            <a:endParaRPr lang="en-US" sz="18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677823" y="6166701"/>
            <a:ext cx="5562427" cy="334877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47750" y="9553575"/>
            <a:ext cx="33883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— CLIENT DASHBOARD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15356235" y="9553575"/>
            <a:ext cx="19602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 · 2026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609600"/>
            <a:ext cx="133350" cy="133350"/>
          </a:xfrm>
          <a:prstGeom prst="ellipse">
            <a:avLst/>
          </a:prstGeom>
          <a:solidFill>
            <a:srgbClr val="C9B8FF"/>
          </a:solidFill>
          <a:ln/>
          <a:effectLst>
            <a:outerShdw blurRad="101600" dist="50800" dir="16200000" algn="bl" rotWithShape="0">
              <a:srgbClr val="C9B8FF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14450" y="519113"/>
            <a:ext cx="11538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372779" y="457200"/>
            <a:ext cx="295349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50" i="1" kern="0" spc="288" dirty="0">
                <a:solidFill>
                  <a:srgbClr val="E8E0FF">
                    <a:alpha val="72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VI. </a:t>
            </a:r>
            <a:r>
              <a:rPr lang="en-US" sz="1800" b="1" kern="0" spc="288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ASK YOUR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914400"/>
            <a:ext cx="166782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ASK YOUR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533525"/>
            <a:ext cx="14716125" cy="81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42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Ask questions. </a:t>
            </a:r>
            <a:r>
              <a:rPr lang="en-US" sz="5700" i="1" kern="0" spc="-142" dirty="0">
                <a:solidFill>
                  <a:srgbClr val="C9B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Get verified answers.</a:t>
            </a:r>
            <a:endParaRPr lang="en-US" sz="5700" dirty="0"/>
          </a:p>
        </p:txBody>
      </p:sp>
      <p:sp>
        <p:nvSpPr>
          <p:cNvPr id="7" name="Shape 5"/>
          <p:cNvSpPr/>
          <p:nvPr/>
        </p:nvSpPr>
        <p:spPr>
          <a:xfrm>
            <a:off x="1047750" y="2695873"/>
            <a:ext cx="9633942" cy="5905500"/>
          </a:xfrm>
          <a:prstGeom prst="roundRect">
            <a:avLst>
              <a:gd name="adj" fmla="val 2258"/>
            </a:avLst>
          </a:prstGeom>
          <a:solidFill>
            <a:srgbClr val="14102B"/>
          </a:solidFill>
          <a:ln/>
          <a:effectLst>
            <a:outerShdw blurRad="762000" dist="28575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50" y="2695873"/>
            <a:ext cx="9633942" cy="59055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024592" y="2695873"/>
            <a:ext cx="6215509" cy="1826716"/>
          </a:xfrm>
          <a:prstGeom prst="roundRect">
            <a:avLst>
              <a:gd name="adj" fmla="val 7300"/>
            </a:avLst>
          </a:prstGeom>
          <a:solidFill>
            <a:srgbClr val="C9B8FF">
              <a:alpha val="8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1243667" y="2914948"/>
            <a:ext cx="59506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Verified SQL Stats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1243667" y="3334048"/>
            <a:ext cx="5950680" cy="1007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Numbers come from the database — never invented. The LLM formats; it does not generate. Every answer carries a </a:t>
            </a:r>
            <a:r>
              <a:rPr lang="en-US" sz="1800" dirty="0">
                <a:solidFill>
                  <a:srgbClr val="C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grounded in statistics </a:t>
            </a:r>
            <a:r>
              <a:rPr lang="en-US" sz="1800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badge.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024592" y="4655939"/>
            <a:ext cx="6215509" cy="1497211"/>
          </a:xfrm>
          <a:prstGeom prst="roundRect">
            <a:avLst>
              <a:gd name="adj" fmla="val 8907"/>
            </a:avLst>
          </a:prstGeom>
          <a:solidFill>
            <a:srgbClr val="C9B8FF">
              <a:alpha val="8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1243667" y="4875014"/>
            <a:ext cx="59506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pgvector Semantic Search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1243667" y="5294114"/>
            <a:ext cx="595068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Finds relevant calls by meaning, not keywords. 768-dim nomic-embed-text via Ollama, scoped to the client.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024592" y="6286500"/>
            <a:ext cx="6215509" cy="1497211"/>
          </a:xfrm>
          <a:prstGeom prst="roundRect">
            <a:avLst>
              <a:gd name="adj" fmla="val 8907"/>
            </a:avLst>
          </a:prstGeom>
          <a:solidFill>
            <a:srgbClr val="C9B8FF">
              <a:alpha val="8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1243667" y="6505575"/>
            <a:ext cx="59506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Multi-turn Conversation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1243667" y="6924675"/>
            <a:ext cx="595068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Ask follow-up questions naturally. The 2-msg memory carries context into the next retrieval.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024592" y="8221861"/>
            <a:ext cx="6401974" cy="7408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E8E0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Powered by </a:t>
            </a:r>
            <a:r>
              <a:rPr lang="en-US" sz="1950" b="1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Cerebras Qwen3 235B </a:t>
            </a:r>
            <a:r>
              <a:rPr lang="en-US" sz="1950" i="1" dirty="0">
                <a:solidFill>
                  <a:srgbClr val="E8E0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— 235-billion parameter MoE running at 60,000 tokens/minute.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047750" y="9553575"/>
            <a:ext cx="27818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 — ASK YOUR DATA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356235" y="9553575"/>
            <a:ext cx="19602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 · 2026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609600"/>
            <a:ext cx="133350" cy="133350"/>
          </a:xfrm>
          <a:prstGeom prst="ellipse">
            <a:avLst/>
          </a:prstGeom>
          <a:solidFill>
            <a:srgbClr val="7C5CFF"/>
          </a:solidFill>
          <a:ln/>
          <a:effectLst>
            <a:outerShdw blurRad="101600" dist="50800" dir="16200000" algn="bl" rotWithShape="0">
              <a:srgbClr val="7C5CFF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14450" y="519113"/>
            <a:ext cx="11538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778484" y="457200"/>
            <a:ext cx="253796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50" i="1" kern="0" spc="288" dirty="0">
                <a:solidFill>
                  <a:srgbClr val="14102B">
                    <a:alpha val="62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VII. </a:t>
            </a: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ADMIN 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914400"/>
            <a:ext cx="166782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7C5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ADMIN GOD 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533525"/>
            <a:ext cx="14716125" cy="81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42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 portfolio visibility for </a:t>
            </a:r>
            <a:r>
              <a:rPr lang="en-US" sz="5700" i="1" kern="0" spc="-142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Heya team.</a:t>
            </a:r>
            <a:endParaRPr lang="en-US" sz="5700" dirty="0"/>
          </a:p>
        </p:txBody>
      </p:sp>
      <p:sp>
        <p:nvSpPr>
          <p:cNvPr id="7" name="Shape 5"/>
          <p:cNvSpPr/>
          <p:nvPr/>
        </p:nvSpPr>
        <p:spPr>
          <a:xfrm>
            <a:off x="1047750" y="2772073"/>
            <a:ext cx="7981950" cy="2175421"/>
          </a:xfrm>
          <a:prstGeom prst="roundRect">
            <a:avLst>
              <a:gd name="adj" fmla="val 8757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400175" y="3124498"/>
            <a:ext cx="876300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2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i.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466975" y="3124498"/>
            <a:ext cx="63966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 Matrix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466975" y="3600748"/>
            <a:ext cx="639660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All clients in one overview — KPIs, silence ratio, queue depth, engagement delta against the 62.0 benchmark.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258300" y="2772073"/>
            <a:ext cx="7981950" cy="2175421"/>
          </a:xfrm>
          <a:prstGeom prst="roundRect">
            <a:avLst>
              <a:gd name="adj" fmla="val 8757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610725" y="3124498"/>
            <a:ext cx="876300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2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ii.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0677525" y="3124498"/>
            <a:ext cx="63966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Drill-Down Panel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677525" y="3600748"/>
            <a:ext cx="6396609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Click any client to open seven analytics bars, a call table with emotion + trajectory, and AI-generated recommendations.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47750" y="5176093"/>
            <a:ext cx="7981950" cy="1843980"/>
          </a:xfrm>
          <a:prstGeom prst="roundRect">
            <a:avLst>
              <a:gd name="adj" fmla="val 10331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400175" y="5528518"/>
            <a:ext cx="876300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2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iii.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2466975" y="5528518"/>
            <a:ext cx="63966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Cross-Client Feed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466975" y="6004768"/>
            <a:ext cx="639660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single real-time call stream across every client, ordered by recency for triage and live monitoring.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58300" y="5176093"/>
            <a:ext cx="7981950" cy="1843980"/>
          </a:xfrm>
          <a:prstGeom prst="roundRect">
            <a:avLst>
              <a:gd name="adj" fmla="val 10331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610725" y="5528518"/>
            <a:ext cx="876300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20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iv.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10677525" y="5528518"/>
            <a:ext cx="639660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Management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677525" y="6004768"/>
            <a:ext cx="639660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 and delete users, assign to clients, control roles. Heya admin and client roles only.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47750" y="7362974"/>
            <a:ext cx="16192500" cy="1424583"/>
          </a:xfrm>
          <a:prstGeom prst="roundRect">
            <a:avLst>
              <a:gd name="adj" fmla="val 12035"/>
            </a:avLst>
          </a:prstGeom>
          <a:solidFill>
            <a:srgbClr val="1410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390650" y="7629674"/>
            <a:ext cx="2362200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b="1" kern="0" spc="324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DYNAMIC INSIGHT CALLOUT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905250" y="7897118"/>
            <a:ext cx="10129293" cy="3942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FAF6E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"Artel Apartments has </a:t>
            </a:r>
            <a:r>
              <a:rPr lang="en-US" sz="1950" b="1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2.1× lower silence ratio </a:t>
            </a:r>
            <a:r>
              <a:rPr lang="en-US" sz="1950" i="1" dirty="0">
                <a:solidFill>
                  <a:srgbClr val="FAF6E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than MVAA Legal — this correlates with 12% higher success."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47750" y="9553575"/>
            <a:ext cx="23400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 — ADMIN VIEW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356235" y="9553575"/>
            <a:ext cx="19602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 · 2026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609600"/>
            <a:ext cx="133350" cy="133350"/>
          </a:xfrm>
          <a:prstGeom prst="ellipse">
            <a:avLst/>
          </a:prstGeom>
          <a:solidFill>
            <a:srgbClr val="7C5CFF"/>
          </a:solidFill>
          <a:ln/>
          <a:effectLst>
            <a:outerShdw blurRad="101600" dist="50800" dir="16200000" algn="bl" rotWithShape="0">
              <a:srgbClr val="7C5CFF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14450" y="519113"/>
            <a:ext cx="11538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323665" y="457200"/>
            <a:ext cx="300408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i="1" kern="0" spc="288" dirty="0">
                <a:solidFill>
                  <a:srgbClr val="14102B">
                    <a:alpha val="62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VIII. </a:t>
            </a: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DEMO CLIENTS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914400"/>
            <a:ext cx="166782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7C5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 CLIENTS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533525"/>
            <a:ext cx="14716125" cy="81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42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real </a:t>
            </a:r>
            <a:r>
              <a:rPr lang="en-US" sz="5700" i="1" kern="0" spc="-142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industry use cases.</a:t>
            </a:r>
            <a:endParaRPr lang="en-US" sz="5700" dirty="0"/>
          </a:p>
        </p:txBody>
      </p:sp>
      <p:sp>
        <p:nvSpPr>
          <p:cNvPr id="7" name="Shape 5"/>
          <p:cNvSpPr/>
          <p:nvPr/>
        </p:nvSpPr>
        <p:spPr>
          <a:xfrm>
            <a:off x="1047750" y="2810173"/>
            <a:ext cx="7924800" cy="5901630"/>
          </a:xfrm>
          <a:prstGeom prst="roundRect">
            <a:avLst>
              <a:gd name="adj" fmla="val 3551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476375" y="3238798"/>
            <a:ext cx="727957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7C5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PROPERTY · BRUNSWICK MEL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76375" y="3781723"/>
            <a:ext cx="727957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66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Artel Apartments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476375" y="4429423"/>
            <a:ext cx="727957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2A235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AI agent: </a:t>
            </a:r>
            <a:r>
              <a:rPr lang="en-US" sz="195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Sasha </a:t>
            </a:r>
            <a:r>
              <a:rPr lang="en-US" sz="1950" i="1" dirty="0">
                <a:solidFill>
                  <a:srgbClr val="2A235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— 24/7 inbound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87805" y="4981873"/>
            <a:ext cx="713232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Check-in codes, parking, bookings, property FAQs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Identity verification &amp; secure SMS forms</a:t>
            </a:r>
            <a:endParaRPr lang="en-US" sz="1800" dirty="0"/>
          </a:p>
          <a:p>
            <a:pPr marL="160020" indent="-160020" algn="l">
              <a:lnSpc>
                <a:spcPct val="150000"/>
              </a:lnSpc>
              <a:buSzPct val="100000"/>
              <a:buChar char="•"/>
              <a:tabLst>
                <a:tab pos="160020" algn="l"/>
              </a:tabLst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Human escalation when patterns warrant it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76375" y="6467773"/>
            <a:ext cx="706755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476375" y="6667798"/>
            <a:ext cx="356130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14102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~385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76375" y="7124998"/>
            <a:ext cx="356130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kern="0" spc="144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CALLS PROCESSED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86350" y="6667798"/>
            <a:ext cx="356130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14102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55.6 </a:t>
            </a: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 100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086350" y="7124998"/>
            <a:ext cx="356130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kern="0" spc="144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ENGAGEMENT VS BENCH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76375" y="7551688"/>
            <a:ext cx="356130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14102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77.4%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476375" y="8008888"/>
            <a:ext cx="356130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kern="0" spc="144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SUCCESS RATE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86350" y="7551688"/>
            <a:ext cx="356130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14102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100%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086350" y="8008888"/>
            <a:ext cx="356130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kern="0" spc="144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PIPELINE COMPLETE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315450" y="2810173"/>
            <a:ext cx="7924800" cy="5901630"/>
          </a:xfrm>
          <a:prstGeom prst="roundRect">
            <a:avLst>
              <a:gd name="adj" fmla="val 3551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744075" y="3238798"/>
            <a:ext cx="727957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7C5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LEGAL · MOTOR VEHICLE ACCIDENT MEL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744075" y="3781723"/>
            <a:ext cx="7279577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66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MVAA Legal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9744075" y="4429423"/>
            <a:ext cx="727957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 specialised agents </a:t>
            </a:r>
            <a:r>
              <a:rPr lang="en-US" sz="1950" i="1" dirty="0">
                <a:solidFill>
                  <a:srgbClr val="2A235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— inbound + outbound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755505" y="5019973"/>
            <a:ext cx="72630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b="1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Justine </a:t>
            </a: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front desk inquiries &amp; routing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55505" y="5439073"/>
            <a:ext cx="72630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b="1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Sarah </a:t>
            </a: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outbound to at-fault drivers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755505" y="5858173"/>
            <a:ext cx="72630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60020" indent="-160020" algn="l">
              <a:lnSpc>
                <a:spcPct val="150000"/>
              </a:lnSpc>
              <a:buSzPct val="100000"/>
              <a:buChar char="•"/>
            </a:pPr>
            <a:r>
              <a:rPr lang="en-US" sz="1800" b="1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Julia </a:t>
            </a: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Welcome Pack signature follow-up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744075" y="6467773"/>
            <a:ext cx="706755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744075" y="6667798"/>
            <a:ext cx="356130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14102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~433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744075" y="7124998"/>
            <a:ext cx="356130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kern="0" spc="144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CALLS IN DATASET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354050" y="6667798"/>
            <a:ext cx="356130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14102B"/>
                </a:solidFill>
                <a:latin typeface="Instrument Serif" pitchFamily="34" charset="0"/>
                <a:ea typeface="Instrument Serif" pitchFamily="34" charset="-122"/>
              </a:rPr>
              <a:t>3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3354050" y="7124998"/>
            <a:ext cx="356130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kern="0" spc="144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SPECIALISED AGENTS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744075" y="7551688"/>
            <a:ext cx="356130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14102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2-way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9744075" y="8008888"/>
            <a:ext cx="356130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kern="0" spc="144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+ OUT FLOWS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354050" y="7551688"/>
            <a:ext cx="356130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14102B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Processed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13354050" y="8008888"/>
            <a:ext cx="356130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kern="0" spc="144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PIPELINE PROGRESS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47750" y="9553575"/>
            <a:ext cx="270577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 — DEMO CLIENTS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5356235" y="9553575"/>
            <a:ext cx="19602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 · 2026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609600"/>
            <a:ext cx="133350" cy="133350"/>
          </a:xfrm>
          <a:prstGeom prst="ellipse">
            <a:avLst/>
          </a:prstGeom>
          <a:solidFill>
            <a:srgbClr val="7C5CFF"/>
          </a:solidFill>
          <a:ln/>
          <a:effectLst>
            <a:outerShdw blurRad="101600" dist="50800" dir="16200000" algn="bl" rotWithShape="0">
              <a:srgbClr val="7C5CFF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14450" y="519113"/>
            <a:ext cx="11538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800064" y="457200"/>
            <a:ext cx="25163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kern="0" spc="288" dirty="0">
                <a:solidFill>
                  <a:srgbClr val="14102B">
                    <a:alpha val="62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IX. </a:t>
            </a: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TECH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914400"/>
            <a:ext cx="166782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7C5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533525"/>
            <a:ext cx="14716125" cy="81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42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Built on modern, </a:t>
            </a:r>
            <a:r>
              <a:rPr lang="en-US" sz="5700" i="1" kern="0" spc="-142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production-grade </a:t>
            </a:r>
            <a:r>
              <a:rPr lang="en-US" sz="5700" b="1" kern="0" spc="-142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tools.</a:t>
            </a:r>
            <a:endParaRPr lang="en-US" sz="5700" dirty="0"/>
          </a:p>
        </p:txBody>
      </p:sp>
      <p:sp>
        <p:nvSpPr>
          <p:cNvPr id="7" name="Shape 5"/>
          <p:cNvSpPr/>
          <p:nvPr/>
        </p:nvSpPr>
        <p:spPr>
          <a:xfrm>
            <a:off x="1047750" y="3276898"/>
            <a:ext cx="7829550" cy="19050"/>
          </a:xfrm>
          <a:prstGeom prst="rect">
            <a:avLst/>
          </a:prstGeom>
          <a:solidFill>
            <a:srgbClr val="7C5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47750" y="2810173"/>
            <a:ext cx="80644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7C5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&amp; INFRA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47750" y="4210348"/>
            <a:ext cx="782955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47750" y="3715048"/>
            <a:ext cx="2747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FastAPI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3886200" y="3753148"/>
            <a:ext cx="51408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0.135 · uvicorn 0.42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4867573"/>
            <a:ext cx="782955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47750" y="4372273"/>
            <a:ext cx="2747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886200" y="4410373"/>
            <a:ext cx="51408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· port 5435 + pgvector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47750" y="5524798"/>
            <a:ext cx="782955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47750" y="5029498"/>
            <a:ext cx="2747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SQLAlchemy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3886200" y="5067598"/>
            <a:ext cx="51408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2.x · ORM + RLS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7750" y="6182023"/>
            <a:ext cx="782955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47750" y="5686723"/>
            <a:ext cx="2747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python-jose JWT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3886200" y="5724823"/>
            <a:ext cx="51408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HS256 · direct bcrypt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47750" y="6839248"/>
            <a:ext cx="782955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047750" y="6343948"/>
            <a:ext cx="2747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Conda envs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3886200" y="6382048"/>
            <a:ext cx="51408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heya_audio + heya_pipeline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10700" y="3276898"/>
            <a:ext cx="7829550" cy="19050"/>
          </a:xfrm>
          <a:prstGeom prst="rect">
            <a:avLst/>
          </a:prstGeom>
          <a:solidFill>
            <a:srgbClr val="4B2F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410700" y="2810173"/>
            <a:ext cx="80644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4B2F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· ML · FRONTEND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410700" y="4210348"/>
            <a:ext cx="782955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410700" y="3715048"/>
            <a:ext cx="2747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pyannote.audio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2249150" y="3753148"/>
            <a:ext cx="51408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3.x · diarisation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410700" y="4867573"/>
            <a:ext cx="782955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410700" y="4372273"/>
            <a:ext cx="2747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librosa + emotion2vec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249150" y="4410373"/>
            <a:ext cx="51408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acoustic + emotion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410700" y="5524798"/>
            <a:ext cx="782955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9410700" y="5029498"/>
            <a:ext cx="2747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Ollama embeddings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2249150" y="5067598"/>
            <a:ext cx="51408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nomic-embed-text · 768d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410700" y="6182023"/>
            <a:ext cx="782955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410700" y="5686723"/>
            <a:ext cx="2747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Cerebras Qwen3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2249150" y="5724823"/>
            <a:ext cx="51408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235B MoE · 60k TPM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410700" y="6839248"/>
            <a:ext cx="782955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9410700" y="6343948"/>
            <a:ext cx="27470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 19 + Vite 8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2249150" y="6382048"/>
            <a:ext cx="51408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recharts · framer-motion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47750" y="9553575"/>
            <a:ext cx="23514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 — TECH STACK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5356235" y="9553575"/>
            <a:ext cx="19602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 · 2026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609600"/>
            <a:ext cx="133350" cy="133350"/>
          </a:xfrm>
          <a:prstGeom prst="ellipse">
            <a:avLst/>
          </a:prstGeom>
          <a:solidFill>
            <a:srgbClr val="7C5CFF"/>
          </a:solidFill>
          <a:ln/>
          <a:effectLst>
            <a:outerShdw blurRad="101600" dist="50800" dir="16200000" algn="bl" rotWithShape="0">
              <a:srgbClr val="7C5CFF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14450" y="519113"/>
            <a:ext cx="11538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38809" y="457200"/>
            <a:ext cx="207764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i="1" kern="0" spc="288" dirty="0">
                <a:solidFill>
                  <a:srgbClr val="14102B">
                    <a:alpha val="62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X. </a:t>
            </a: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SECURITY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914400"/>
            <a:ext cx="166782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7C5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SECURITY MODEL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533525"/>
            <a:ext cx="14716125" cy="81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42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Enterprise-grade </a:t>
            </a:r>
            <a:r>
              <a:rPr lang="en-US" sz="5700" i="1" kern="0" spc="-142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multi-tenant isolation.</a:t>
            </a:r>
            <a:endParaRPr lang="en-US" sz="5700" dirty="0"/>
          </a:p>
        </p:txBody>
      </p:sp>
      <p:sp>
        <p:nvSpPr>
          <p:cNvPr id="7" name="Shape 5"/>
          <p:cNvSpPr/>
          <p:nvPr/>
        </p:nvSpPr>
        <p:spPr>
          <a:xfrm>
            <a:off x="1047750" y="2733973"/>
            <a:ext cx="11430000" cy="1280071"/>
          </a:xfrm>
          <a:prstGeom prst="roundRect">
            <a:avLst>
              <a:gd name="adj" fmla="val 13394"/>
            </a:avLst>
          </a:prstGeom>
          <a:solidFill>
            <a:srgbClr val="E8E0FF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400175" y="3107234"/>
            <a:ext cx="1028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4B2FC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L1.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657475" y="3010198"/>
            <a:ext cx="767369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JWT Claims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657475" y="3429298"/>
            <a:ext cx="7673693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client_id embedded in the signed token — cannot be forged client-side.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942415" y="3169146"/>
            <a:ext cx="25911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B2F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47750" y="4185493"/>
            <a:ext cx="11430000" cy="1280071"/>
          </a:xfrm>
          <a:prstGeom prst="roundRect">
            <a:avLst>
              <a:gd name="adj" fmla="val 13394"/>
            </a:avLst>
          </a:prstGeom>
          <a:solidFill>
            <a:srgbClr val="DCD0FF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400175" y="4558754"/>
            <a:ext cx="1028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4B2FC9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L2.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657475" y="4461718"/>
            <a:ext cx="942061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Application Check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657475" y="4880818"/>
            <a:ext cx="9420619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_require_client_access() verified at every endpoint — called manually, never bypassed.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942415" y="4620667"/>
            <a:ext cx="25911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4B2F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↓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47750" y="5637014"/>
            <a:ext cx="11430000" cy="1588591"/>
          </a:xfrm>
          <a:prstGeom prst="roundRect">
            <a:avLst>
              <a:gd name="adj" fmla="val 10793"/>
            </a:avLst>
          </a:prstGeom>
          <a:solidFill>
            <a:srgbClr val="7C5C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400175" y="6164610"/>
            <a:ext cx="10287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FAF6EC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L3.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2657475" y="5913239"/>
            <a:ext cx="975188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 Row Level Security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657475" y="6332339"/>
            <a:ext cx="975188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dirty="0" err="1">
                <a:solidFill>
                  <a:srgbClr val="FFFFFF">
                    <a:alpha val="8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Voice_ai</a:t>
            </a: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DB role — rows from other tenants are structurally invisible at the database layer.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049250" y="4953000"/>
            <a:ext cx="4191000" cy="1786533"/>
          </a:xfrm>
          <a:prstGeom prst="roundRect">
            <a:avLst>
              <a:gd name="adj" fmla="val 9597"/>
            </a:avLst>
          </a:prstGeom>
          <a:solidFill>
            <a:srgbClr val="1410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3315950" y="5219700"/>
            <a:ext cx="3783330" cy="1291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FAF6EC"/>
                </a:solidFill>
                <a:highlight>
                  <a:srgbClr val="14102B"/>
                </a:highlight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"Cross-tenant data leakage is not just prevented — </a:t>
            </a:r>
            <a:r>
              <a:rPr lang="en-US" sz="1800" b="1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 is architecturally impossible. </a:t>
            </a:r>
            <a:r>
              <a:rPr lang="en-US" sz="1800" i="1" dirty="0">
                <a:solidFill>
                  <a:srgbClr val="FAF6EC"/>
                </a:solidFill>
                <a:highlight>
                  <a:srgbClr val="14102B"/>
                </a:highlight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Even a compromised JWT cannot return another tenant's rows."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049250" y="7806333"/>
            <a:ext cx="419100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3049250" y="7025283"/>
            <a:ext cx="431673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HMAC-SHA256 webhook verification — Retell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049250" y="8349258"/>
            <a:ext cx="419100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3049250" y="7911108"/>
            <a:ext cx="43167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 RAG requests / minute / user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049250" y="8892183"/>
            <a:ext cx="419100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3049250" y="8454033"/>
            <a:ext cx="43167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bcrypt password hashing — no passlib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049250" y="9435108"/>
            <a:ext cx="4191000" cy="9525"/>
          </a:xfrm>
          <a:prstGeom prst="rect">
            <a:avLst/>
          </a:prstGeom>
          <a:solidFill>
            <a:srgbClr val="14102B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3049250" y="8996958"/>
            <a:ext cx="43167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pgvector hard-scoped to client_id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47750" y="9553575"/>
            <a:ext cx="196378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— SECURITY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356235" y="9553575"/>
            <a:ext cx="19602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 · 2026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609600"/>
            <a:ext cx="133350" cy="133350"/>
          </a:xfrm>
          <a:prstGeom prst="ellipse">
            <a:avLst/>
          </a:prstGeom>
          <a:solidFill>
            <a:srgbClr val="C9B8FF"/>
          </a:solidFill>
          <a:ln/>
          <a:effectLst>
            <a:outerShdw blurRad="101600" dist="50800" dir="16200000" algn="bl" rotWithShape="0">
              <a:srgbClr val="C9B8FF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14450" y="519113"/>
            <a:ext cx="11538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53852" y="457200"/>
            <a:ext cx="31789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50" i="1" kern="0" spc="288" dirty="0">
                <a:solidFill>
                  <a:srgbClr val="E8E0FF">
                    <a:alpha val="72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XI. </a:t>
            </a:r>
            <a:r>
              <a:rPr lang="en-US" sz="1800" b="1" kern="0" spc="288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BY THE NUMBERS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914400"/>
            <a:ext cx="166782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BY THE NUMBERS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533525"/>
            <a:ext cx="14716125" cy="81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42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platform — </a:t>
            </a:r>
            <a:r>
              <a:rPr lang="en-US" sz="5700" i="1" kern="0" spc="-142" dirty="0">
                <a:solidFill>
                  <a:srgbClr val="C9B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at a glance.</a:t>
            </a:r>
            <a:endParaRPr lang="en-US" sz="5700" dirty="0"/>
          </a:p>
        </p:txBody>
      </p:sp>
      <p:sp>
        <p:nvSpPr>
          <p:cNvPr id="7" name="Shape 5"/>
          <p:cNvSpPr/>
          <p:nvPr/>
        </p:nvSpPr>
        <p:spPr>
          <a:xfrm>
            <a:off x="1047750" y="2733973"/>
            <a:ext cx="5283101" cy="2343150"/>
          </a:xfrm>
          <a:prstGeom prst="roundRect">
            <a:avLst>
              <a:gd name="adj" fmla="val 8130"/>
            </a:avLst>
          </a:prstGeom>
          <a:solidFill>
            <a:srgbClr val="C9B8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62075" y="3048298"/>
            <a:ext cx="4794084" cy="78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300" b="1" kern="0" spc="-252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700</a:t>
            </a:r>
            <a:r>
              <a:rPr lang="en-US" sz="5400" i="1" kern="0" spc="-252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+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1362075" y="3932188"/>
            <a:ext cx="47940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calls processed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02301" y="2733973"/>
            <a:ext cx="5283250" cy="2343150"/>
          </a:xfrm>
          <a:prstGeom prst="roundRect">
            <a:avLst>
              <a:gd name="adj" fmla="val 8130"/>
            </a:avLst>
          </a:prstGeom>
          <a:solidFill>
            <a:srgbClr val="C9B8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16626" y="3048298"/>
            <a:ext cx="4794238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300" b="1" kern="0" spc="-252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6816626" y="3901678"/>
            <a:ext cx="47942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Audio analytics metrics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957000" y="2733973"/>
            <a:ext cx="5283250" cy="2343150"/>
          </a:xfrm>
          <a:prstGeom prst="roundRect">
            <a:avLst>
              <a:gd name="adj" fmla="val 8130"/>
            </a:avLst>
          </a:prstGeom>
          <a:solidFill>
            <a:srgbClr val="C9B8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2271325" y="3048298"/>
            <a:ext cx="4794238" cy="78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300" b="1" kern="0" spc="-252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</a:t>
            </a:r>
            <a:r>
              <a:rPr lang="en-US" sz="5400" i="1" kern="0" spc="-252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+</a:t>
            </a:r>
            <a:endParaRPr lang="en-US" sz="6300" dirty="0"/>
          </a:p>
        </p:txBody>
      </p:sp>
      <p:sp>
        <p:nvSpPr>
          <p:cNvPr id="15" name="Text 13"/>
          <p:cNvSpPr/>
          <p:nvPr/>
        </p:nvSpPr>
        <p:spPr>
          <a:xfrm>
            <a:off x="12271325" y="3932188"/>
            <a:ext cx="47942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 endpoints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5248573"/>
            <a:ext cx="5283101" cy="2343150"/>
          </a:xfrm>
          <a:prstGeom prst="roundRect">
            <a:avLst>
              <a:gd name="adj" fmla="val 8130"/>
            </a:avLst>
          </a:prstGeom>
          <a:solidFill>
            <a:srgbClr val="C9B8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362075" y="5562898"/>
            <a:ext cx="4794084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300" b="1" kern="0" spc="-252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</a:t>
            </a:r>
            <a:endParaRPr lang="en-US" sz="6300" dirty="0"/>
          </a:p>
        </p:txBody>
      </p:sp>
      <p:sp>
        <p:nvSpPr>
          <p:cNvPr id="18" name="Text 16"/>
          <p:cNvSpPr/>
          <p:nvPr/>
        </p:nvSpPr>
        <p:spPr>
          <a:xfrm>
            <a:off x="1362075" y="6416278"/>
            <a:ext cx="479408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Frontend pages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02301" y="5248573"/>
            <a:ext cx="5283250" cy="2343150"/>
          </a:xfrm>
          <a:prstGeom prst="roundRect">
            <a:avLst>
              <a:gd name="adj" fmla="val 8130"/>
            </a:avLst>
          </a:prstGeom>
          <a:solidFill>
            <a:srgbClr val="C9B8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16626" y="5562898"/>
            <a:ext cx="4794238" cy="78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300" b="1" kern="0" spc="-252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235</a:t>
            </a:r>
            <a:r>
              <a:rPr lang="en-US" sz="5400" i="1" kern="0" spc="-252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</a:t>
            </a:r>
            <a:endParaRPr lang="en-US" sz="6300" dirty="0"/>
          </a:p>
        </p:txBody>
      </p:sp>
      <p:sp>
        <p:nvSpPr>
          <p:cNvPr id="21" name="Text 19"/>
          <p:cNvSpPr/>
          <p:nvPr/>
        </p:nvSpPr>
        <p:spPr>
          <a:xfrm>
            <a:off x="6816626" y="6446788"/>
            <a:ext cx="47942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LLM parameters (MoE)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957000" y="5248573"/>
            <a:ext cx="5283250" cy="2343150"/>
          </a:xfrm>
          <a:prstGeom prst="roundRect">
            <a:avLst>
              <a:gd name="adj" fmla="val 8130"/>
            </a:avLst>
          </a:prstGeom>
          <a:solidFill>
            <a:srgbClr val="C9B8FF">
              <a:alpha val="6000"/>
            </a:srgbClr>
          </a:solidFill>
          <a:ln w="9525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2271325" y="5562898"/>
            <a:ext cx="4794238" cy="78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300" b="1" kern="0" spc="-252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768</a:t>
            </a:r>
            <a:r>
              <a:rPr lang="en-US" sz="5400" i="1" kern="0" spc="-252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</a:t>
            </a:r>
            <a:endParaRPr lang="en-US" sz="6300" dirty="0"/>
          </a:p>
        </p:txBody>
      </p:sp>
      <p:sp>
        <p:nvSpPr>
          <p:cNvPr id="24" name="Text 22"/>
          <p:cNvSpPr/>
          <p:nvPr/>
        </p:nvSpPr>
        <p:spPr>
          <a:xfrm>
            <a:off x="12271325" y="6446788"/>
            <a:ext cx="479423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Embedding dimensions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47750" y="9553575"/>
            <a:ext cx="29559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— BY THE NUMBERS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356235" y="9553575"/>
            <a:ext cx="19602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 · 2026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609600"/>
            <a:ext cx="133350" cy="133350"/>
          </a:xfrm>
          <a:prstGeom prst="ellipse">
            <a:avLst/>
          </a:prstGeom>
          <a:solidFill>
            <a:srgbClr val="7C5CFF"/>
          </a:solidFill>
          <a:ln/>
          <a:effectLst>
            <a:outerShdw blurRad="101600" dist="50800" dir="16200000" algn="bl" rotWithShape="0">
              <a:srgbClr val="7C5CFF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14450" y="519113"/>
            <a:ext cx="115386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74788" y="457200"/>
            <a:ext cx="234166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i="1" kern="0" spc="288" dirty="0">
                <a:solidFill>
                  <a:srgbClr val="14102B">
                    <a:alpha val="62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XII. </a:t>
            </a:r>
            <a:r>
              <a:rPr lang="en-US" sz="1800" b="1" kern="0" spc="288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· LIVE DEMO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914400"/>
            <a:ext cx="166782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96" dirty="0">
                <a:solidFill>
                  <a:srgbClr val="7C5C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DEMO FLOW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533525"/>
            <a:ext cx="14716125" cy="81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42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Let's </a:t>
            </a:r>
            <a:r>
              <a:rPr lang="en-US" sz="5700" i="1" kern="0" spc="-142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see it live.</a:t>
            </a:r>
            <a:endParaRPr lang="en-US" sz="5700" dirty="0"/>
          </a:p>
        </p:txBody>
      </p:sp>
      <p:sp>
        <p:nvSpPr>
          <p:cNvPr id="7" name="Shape 5"/>
          <p:cNvSpPr/>
          <p:nvPr/>
        </p:nvSpPr>
        <p:spPr>
          <a:xfrm>
            <a:off x="1047750" y="2581573"/>
            <a:ext cx="14287500" cy="1293316"/>
          </a:xfrm>
          <a:prstGeom prst="roundRect">
            <a:avLst>
              <a:gd name="adj" fmla="val 10311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85875" y="3009156"/>
            <a:ext cx="7429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01.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2181225" y="2724448"/>
            <a:ext cx="107133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Login as Artel admin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2181225" y="3105448"/>
            <a:ext cx="10713339" cy="664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4B2FC9"/>
                </a:solidFill>
                <a:highlight>
                  <a:srgbClr val="E8E0FF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admin@artel.com / artel_2026 </a:t>
            </a: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show KPI cards, engagement benchmark, silence–success correlation insight.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811125" y="2952006"/>
            <a:ext cx="2286000" cy="552450"/>
          </a:xfrm>
          <a:prstGeom prst="roundRect">
            <a:avLst>
              <a:gd name="adj" fmla="val 17241"/>
            </a:avLst>
          </a:prstGeom>
          <a:solidFill>
            <a:srgbClr val="14102B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1047750" y="3951089"/>
            <a:ext cx="14287500" cy="1283791"/>
          </a:xfrm>
          <a:prstGeom prst="roundRect">
            <a:avLst>
              <a:gd name="adj" fmla="val 10387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285875" y="4373910"/>
            <a:ext cx="7429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02.</a:t>
            </a:r>
            <a:endParaRPr lang="en-US" sz="3450" dirty="0"/>
          </a:p>
        </p:txBody>
      </p:sp>
      <p:sp>
        <p:nvSpPr>
          <p:cNvPr id="15" name="Text 12"/>
          <p:cNvSpPr/>
          <p:nvPr/>
        </p:nvSpPr>
        <p:spPr>
          <a:xfrm>
            <a:off x="2181225" y="4093964"/>
            <a:ext cx="107133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Audio Insights tab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2181225" y="4474964"/>
            <a:ext cx="1071333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Walk through emotion detection — acoustic vs text-based. Sentiment trajectory bars. Acoustic stress section.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2811125" y="4316760"/>
            <a:ext cx="2286000" cy="552450"/>
          </a:xfrm>
          <a:prstGeom prst="roundRect">
            <a:avLst>
              <a:gd name="adj" fmla="val 17241"/>
            </a:avLst>
          </a:prstGeom>
          <a:solidFill>
            <a:srgbClr val="14102B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1047750" y="5311080"/>
            <a:ext cx="14287500" cy="1283791"/>
          </a:xfrm>
          <a:prstGeom prst="roundRect">
            <a:avLst>
              <a:gd name="adj" fmla="val 10387"/>
            </a:avLst>
          </a:prstGeom>
          <a:solidFill>
            <a:srgbClr val="FAF6EC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1285875" y="5733901"/>
            <a:ext cx="7429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50" i="1" dirty="0">
                <a:solidFill>
                  <a:srgbClr val="7C5C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03.</a:t>
            </a:r>
            <a:endParaRPr lang="en-US" sz="3450" dirty="0"/>
          </a:p>
        </p:txBody>
      </p:sp>
      <p:sp>
        <p:nvSpPr>
          <p:cNvPr id="21" name="Text 17"/>
          <p:cNvSpPr/>
          <p:nvPr/>
        </p:nvSpPr>
        <p:spPr>
          <a:xfrm>
            <a:off x="2181225" y="5453955"/>
            <a:ext cx="1071333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4102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Ask Your Data</a:t>
            </a:r>
            <a:endParaRPr lang="en-US" sz="1950" dirty="0"/>
          </a:p>
        </p:txBody>
      </p:sp>
      <p:sp>
        <p:nvSpPr>
          <p:cNvPr id="22" name="Text 18"/>
          <p:cNvSpPr/>
          <p:nvPr/>
        </p:nvSpPr>
        <p:spPr>
          <a:xfrm>
            <a:off x="2181225" y="5834955"/>
            <a:ext cx="1071333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"Which calls had the most frustrated customers?" — then multi-turn: "What were those customers calling about?"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11125" y="5676751"/>
            <a:ext cx="2286000" cy="552450"/>
          </a:xfrm>
          <a:prstGeom prst="roundRect">
            <a:avLst>
              <a:gd name="adj" fmla="val 17241"/>
            </a:avLst>
          </a:prstGeom>
          <a:solidFill>
            <a:srgbClr val="14102B"/>
          </a:solidFill>
          <a:ln w="9525">
            <a:solidFill>
              <a:srgbClr val="14102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8120966-A3D6-3934-9C45-211C5E150868}"/>
              </a:ext>
            </a:extLst>
          </p:cNvPr>
          <p:cNvGrpSpPr/>
          <p:nvPr/>
        </p:nvGrpSpPr>
        <p:grpSpPr>
          <a:xfrm>
            <a:off x="1047750" y="6707874"/>
            <a:ext cx="14287500" cy="975271"/>
            <a:chOff x="1047750" y="8040588"/>
            <a:chExt cx="14287500" cy="975271"/>
          </a:xfrm>
        </p:grpSpPr>
        <p:sp>
          <p:nvSpPr>
            <p:cNvPr id="31" name="Shape 25"/>
            <p:cNvSpPr/>
            <p:nvPr/>
          </p:nvSpPr>
          <p:spPr>
            <a:xfrm>
              <a:off x="1047750" y="8040588"/>
              <a:ext cx="14287500" cy="975271"/>
            </a:xfrm>
            <a:prstGeom prst="roundRect">
              <a:avLst>
                <a:gd name="adj" fmla="val 13673"/>
              </a:avLst>
            </a:prstGeom>
            <a:solidFill>
              <a:srgbClr val="FAF6EC"/>
            </a:solidFill>
            <a:ln w="9525">
              <a:solidFill>
                <a:srgbClr val="14102B">
                  <a:alpha val="12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 26"/>
            <p:cNvSpPr/>
            <p:nvPr/>
          </p:nvSpPr>
          <p:spPr>
            <a:xfrm>
              <a:off x="1285875" y="8309074"/>
              <a:ext cx="742950" cy="4762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3450" i="1" dirty="0">
                  <a:solidFill>
                    <a:srgbClr val="7C5CFF"/>
                  </a:solidFill>
                  <a:latin typeface="Instrument Serif" pitchFamily="34" charset="0"/>
                  <a:ea typeface="Instrument Serif" pitchFamily="34" charset="-122"/>
                  <a:cs typeface="Instrument Serif" pitchFamily="34" charset="-120"/>
                </a:rPr>
                <a:t>04.</a:t>
              </a:r>
              <a:endParaRPr lang="en-US" sz="3450" dirty="0"/>
            </a:p>
          </p:txBody>
        </p:sp>
        <p:sp>
          <p:nvSpPr>
            <p:cNvPr id="33" name="Text 27"/>
            <p:cNvSpPr/>
            <p:nvPr/>
          </p:nvSpPr>
          <p:spPr>
            <a:xfrm>
              <a:off x="2181225" y="8183463"/>
              <a:ext cx="10713339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950" b="1" kern="0" spc="-19" dirty="0">
                  <a:solidFill>
                    <a:srgbClr val="14102B"/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Search</a:t>
              </a:r>
              <a:endParaRPr lang="en-US" sz="1950" dirty="0"/>
            </a:p>
          </p:txBody>
        </p:sp>
        <p:sp>
          <p:nvSpPr>
            <p:cNvPr id="34" name="Text 28"/>
            <p:cNvSpPr/>
            <p:nvPr/>
          </p:nvSpPr>
          <p:spPr>
            <a:xfrm>
              <a:off x="2181225" y="8564463"/>
              <a:ext cx="10713339" cy="3466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20000"/>
            </a:bodyPr>
            <a:lstStyle/>
            <a:p>
              <a:pPr marL="0" indent="0" algn="l">
                <a:lnSpc>
                  <a:spcPct val="135000"/>
                </a:lnSpc>
                <a:buNone/>
              </a:pPr>
              <a:r>
                <a:rPr lang="en-US" sz="1800" dirty="0">
                  <a:solidFill>
                    <a:srgbClr val="14102B">
                      <a:alpha val="62000"/>
                    </a:srgbClr>
                  </a:solidFill>
                  <a:latin typeface="Manrope" pitchFamily="34" charset="0"/>
                  <a:ea typeface="Manrope" pitchFamily="34" charset="-122"/>
                  <a:cs typeface="Manrope" pitchFamily="34" charset="-120"/>
                </a:rPr>
                <a:t>Type a keyword — "parking" or "refund" — show highlighted transcript snippets in the result list.</a:t>
              </a:r>
              <a:endParaRPr lang="en-US" sz="1800" dirty="0"/>
            </a:p>
          </p:txBody>
        </p:sp>
        <p:sp>
          <p:nvSpPr>
            <p:cNvPr id="35" name="Shape 29"/>
            <p:cNvSpPr/>
            <p:nvPr/>
          </p:nvSpPr>
          <p:spPr>
            <a:xfrm>
              <a:off x="12811125" y="8251924"/>
              <a:ext cx="2286000" cy="552450"/>
            </a:xfrm>
            <a:prstGeom prst="roundRect">
              <a:avLst>
                <a:gd name="adj" fmla="val 17241"/>
              </a:avLst>
            </a:prstGeom>
            <a:solidFill>
              <a:srgbClr val="14102B"/>
            </a:solidFill>
            <a:ln w="9525">
              <a:solidFill>
                <a:srgbClr val="14102B">
                  <a:alpha val="12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7" name="Text 30"/>
          <p:cNvSpPr/>
          <p:nvPr/>
        </p:nvSpPr>
        <p:spPr>
          <a:xfrm>
            <a:off x="1047750" y="9553575"/>
            <a:ext cx="20925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 — LIVE DEMO</a:t>
            </a:r>
            <a:endParaRPr lang="en-US" sz="1800" dirty="0"/>
          </a:p>
        </p:txBody>
      </p:sp>
      <p:sp>
        <p:nvSpPr>
          <p:cNvPr id="38" name="Text 31"/>
          <p:cNvSpPr/>
          <p:nvPr/>
        </p:nvSpPr>
        <p:spPr>
          <a:xfrm>
            <a:off x="15356235" y="9553575"/>
            <a:ext cx="19602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14102B">
                    <a:alpha val="6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 · 2026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406104"/>
            <a:ext cx="166782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540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HEYA AI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1" y="3101429"/>
            <a:ext cx="14471292" cy="2600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0" b="1" kern="0" spc="-396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Turning voice data </a:t>
            </a:r>
            <a:r>
              <a:rPr lang="en-US" sz="9900" i="1" kern="0" spc="-396" dirty="0">
                <a:solidFill>
                  <a:srgbClr val="C9B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into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0" i="1" kern="0" spc="-396" dirty="0">
                <a:solidFill>
                  <a:srgbClr val="C9B8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decisions.</a:t>
            </a:r>
            <a:endParaRPr lang="en-US" sz="9900" dirty="0"/>
          </a:p>
        </p:txBody>
      </p:sp>
      <p:sp>
        <p:nvSpPr>
          <p:cNvPr id="4" name="Shape 2"/>
          <p:cNvSpPr/>
          <p:nvPr/>
        </p:nvSpPr>
        <p:spPr>
          <a:xfrm>
            <a:off x="1047750" y="6425654"/>
            <a:ext cx="519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7750" y="6701879"/>
            <a:ext cx="53500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CLIENTS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7187654"/>
            <a:ext cx="5350078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Know what's happening in every call — not just whether it succeeded.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46800" y="6425654"/>
            <a:ext cx="519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46800" y="6701879"/>
            <a:ext cx="53500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OPERATIONS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46800" y="7187654"/>
            <a:ext cx="5350078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Catch escalations before they become complaints. Coach on real data.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045851" y="6425654"/>
            <a:ext cx="519425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2045851" y="6701879"/>
            <a:ext cx="53500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60" dirty="0">
                <a:solidFill>
                  <a:srgbClr val="C9B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 THE HEYA TEAM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45851" y="7187654"/>
            <a:ext cx="5350078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FAF6E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 portfolio visibility across all clients in one place.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47750" y="9363075"/>
            <a:ext cx="70507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RMIT COSC2667 / COSC2777 · SEMESTER 4, 2026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654784" y="9363075"/>
            <a:ext cx="166166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288" dirty="0">
                <a:solidFill>
                  <a:srgbClr val="E8E0FF">
                    <a:alpha val="72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F14FA6E-8043-42EC-BA36-CBA4476B27D9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d0d0b731-024a-419a-a4f7-6e769ed77b7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1533</Words>
  <Application>Microsoft Office PowerPoint</Application>
  <PresentationFormat>Custom</PresentationFormat>
  <Paragraphs>286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Instrument Serif</vt:lpstr>
      <vt:lpstr>JetBrains Mono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BHANU CHANDU</cp:lastModifiedBy>
  <cp:revision>5</cp:revision>
  <dcterms:created xsi:type="dcterms:W3CDTF">2026-05-26T09:01:20Z</dcterms:created>
  <dcterms:modified xsi:type="dcterms:W3CDTF">2026-05-26T14:52:32Z</dcterms:modified>
</cp:coreProperties>
</file>